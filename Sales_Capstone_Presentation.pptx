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3D4B7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194560" cy="2194560"/>
          </a:xfrm>
          <a:prstGeom prst="ellipse">
            <a:avLst/>
          </a:prstGeom>
          <a:solidFill>
            <a:srgbClr val="FFB84C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ANALYTICS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workflow — from raw data to an interactive business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FFB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93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·  Power BI  ·  Git &amp; GitHub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performance across regions and product categories to uncover growth opportunities — using Python for analysis and Power BI for interactive reporting.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duplicates in a real-world sales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Analyze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trends, correlations, and outliers through EDA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Findings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54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clear charts that communicate patterns at a glance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Dashboard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754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results into an interactive Power BI report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Cleaning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C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7373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After Cleaning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C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3832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 Removed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C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5029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5029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Fixed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1600200"/>
            <a:ext cx="74980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34840" y="1828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Process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34840" y="237744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30428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dataset shape, column types, and structure using pandas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34840" y="315468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348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08152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1 duplicate order (OrderID O1021) and removed it with drop_duplicates()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393192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348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85876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missing values in CustomerAge and SatisfactionRating — filled each with the column median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34840" y="470916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348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463600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OrderDate from text to a proper datetime format for time-based analysis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34840" y="548640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3484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413248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the cleaned dataset as sales_data_cleaned.csv for all downstream analysis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Category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852160" cy="3063240"/>
          </a:xfrm>
          <a:prstGeom prst="roundRect">
            <a:avLst>
              <a:gd name="adj" fmla="val 2388"/>
            </a:avLst>
          </a:prstGeom>
          <a:solidFill>
            <a:srgbClr val="F5F6FA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5" name="Image 0" descr="chart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764792"/>
            <a:ext cx="5577840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00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dominates, driven by high-value laptop orders.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20840" y="1627632"/>
            <a:ext cx="4937760" cy="3520440"/>
          </a:xfrm>
          <a:prstGeom prst="roundRect">
            <a:avLst>
              <a:gd name="adj" fmla="val 2078"/>
            </a:avLst>
          </a:prstGeom>
          <a:solidFill>
            <a:srgbClr val="F5F6FA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9" name="Image 1" descr="chart_heat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1737360"/>
            <a:ext cx="4663440" cy="32918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72084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↔ Profit: 0.99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Outlier: O1022, $2,160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Visualizations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18488"/>
            <a:ext cx="3703320" cy="2514600"/>
          </a:xfrm>
          <a:prstGeom prst="roundRect">
            <a:avLst>
              <a:gd name="adj" fmla="val 2182"/>
            </a:avLst>
          </a:prstGeom>
          <a:solidFill>
            <a:srgbClr val="F5F6FA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5" name="Image 0" descr="chart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728216"/>
            <a:ext cx="3483864" cy="2295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4281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was the peak month, driven by a large bulk order.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325112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by Category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25112" y="1618488"/>
            <a:ext cx="3703320" cy="2514600"/>
          </a:xfrm>
          <a:prstGeom prst="roundRect">
            <a:avLst>
              <a:gd name="adj" fmla="val 2182"/>
            </a:avLst>
          </a:prstGeom>
          <a:solidFill>
            <a:srgbClr val="F5F6FA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9" name="Image 1" descr="chart_box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728216"/>
            <a:ext cx="3483864" cy="2295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25112" y="424281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shows the widest spread and highest ceiling.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193024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vs Sales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93024" y="1618488"/>
            <a:ext cx="3703320" cy="2514600"/>
          </a:xfrm>
          <a:prstGeom prst="roundRect">
            <a:avLst>
              <a:gd name="adj" fmla="val 2182"/>
            </a:avLst>
          </a:prstGeom>
          <a:solidFill>
            <a:srgbClr val="F5F6FA"/>
          </a:solidFill>
          <a:ln w="12700">
            <a:solidFill>
              <a:srgbClr val="E3E6EE"/>
            </a:solidFill>
            <a:prstDash val="solid"/>
          </a:ln>
        </p:spPr>
      </p:sp>
      <p:pic>
        <p:nvPicPr>
          <p:cNvPr id="13" name="Image 2" descr="chart_scatt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02752" y="1728216"/>
            <a:ext cx="3483864" cy="22951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93024" y="424281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high-value orders involve low quantities — big-ticket items.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"Sales Capstone Dashboard" — interactive report with KPIs, charts, and slicers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201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</p:spPr>
      </p:sp>
      <p:pic>
        <p:nvPicPr>
          <p:cNvPr id="5" name="Image 0" descr="powerbi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28800"/>
            <a:ext cx="1083564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922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Insights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928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top-performing category, driven heavily by laptop sales.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072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3405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has the highest order volume but the lowest revenue per order, due to low unit prices.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7530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 region leads in total sales — more than double the North region.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489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41655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are strongly correlated (0.99) — high-value orders reliably generate proportional profit.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33095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22960" y="5330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257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was the peak sales month, coinciding with a large bulk laptop order (O1022, $2,160).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1234440"/>
            <a:ext cx="4389120" cy="2148840"/>
          </a:xfrm>
          <a:prstGeom prst="roundRect">
            <a:avLst>
              <a:gd name="adj" fmla="val 510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5438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Extremes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Category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Category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596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Region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596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29809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Region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69480" y="3566160"/>
            <a:ext cx="43891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54380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425196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75438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17880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Technology inventory and marketing, since it drives the most revenue and profit.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43800" y="5303520"/>
            <a:ext cx="274320" cy="274320"/>
          </a:xfrm>
          <a:prstGeom prst="ellipse">
            <a:avLst/>
          </a:prstGeom>
          <a:solidFill>
            <a:srgbClr val="FFB84C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754380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52303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underperformance in the North region — targeted promotions could help close the gap with South.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2026-09-08T11:29:35Z</dcterms:created>
  <dcterms:modified xsi:type="dcterms:W3CDTF">2026-09-08T11:29:35Z</dcterms:modified>
</cp:coreProperties>
</file>